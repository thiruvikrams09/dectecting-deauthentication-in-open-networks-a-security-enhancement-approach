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398" r:id="rId4"/>
    <p:sldId id="267" r:id="rId5"/>
    <p:sldId id="357" r:id="rId6"/>
    <p:sldId id="296" r:id="rId7"/>
    <p:sldId id="300" r:id="rId8"/>
    <p:sldId id="358" r:id="rId9"/>
    <p:sldId id="377" r:id="rId10"/>
    <p:sldId id="382" r:id="rId11"/>
    <p:sldId id="383" r:id="rId12"/>
    <p:sldId id="396" r:id="rId13"/>
    <p:sldId id="397" r:id="rId14"/>
    <p:sldId id="327" r:id="rId15"/>
    <p:sldId id="334" r:id="rId16"/>
    <p:sldId id="386" r:id="rId17"/>
    <p:sldId id="330" r:id="rId18"/>
    <p:sldId id="395" r:id="rId19"/>
    <p:sldId id="369" r:id="rId20"/>
    <p:sldId id="366" r:id="rId21"/>
    <p:sldId id="332" r:id="rId22"/>
    <p:sldId id="361" r:id="rId23"/>
    <p:sldId id="387" r:id="rId24"/>
    <p:sldId id="335" r:id="rId25"/>
    <p:sldId id="367" r:id="rId26"/>
    <p:sldId id="393" r:id="rId27"/>
    <p:sldId id="394" r:id="rId28"/>
    <p:sldId id="328" r:id="rId29"/>
    <p:sldId id="349" r:id="rId30"/>
    <p:sldId id="384" r:id="rId31"/>
    <p:sldId id="381" r:id="rId32"/>
    <p:sldId id="385" r:id="rId33"/>
    <p:sldId id="262" r:id="rId34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4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150" autoAdjust="0"/>
    <p:restoredTop sz="94660"/>
  </p:normalViewPr>
  <p:slideViewPr>
    <p:cSldViewPr showGuides="1">
      <p:cViewPr varScale="1">
        <p:scale>
          <a:sx n="82" d="100"/>
          <a:sy n="82" d="100"/>
        </p:scale>
        <p:origin x="1186" y="96"/>
      </p:cViewPr>
      <p:guideLst>
        <p:guide orient="horz" pos="2142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E585645A-D6E8-47F1-9A6E-7D1DA74F66BF}" type="datetimeFigureOut">
              <a:rPr lang="en-US"/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80A03415-62BD-4486-BD51-3252FF38B851}" type="slidenum">
              <a:rPr lang="en-US" altLang="en-US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CEC1FD-ACF5-46D2-BB91-7497C8E0C5A2}" type="slidenum">
              <a:rPr lang="en-IN" altLang="en-US"/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304800" y="6400800"/>
            <a:ext cx="2844800" cy="365125"/>
          </a:xfrm>
        </p:spPr>
        <p:txBody>
          <a:bodyPr/>
          <a:lstStyle>
            <a:lvl1pPr algn="l">
              <a:defRPr sz="1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D5BF5F69-9018-4A93-A7C6-C324F63CCB45}" type="slidenum">
              <a:rPr lang="en-IN" altLang="en-US"/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52D989-44E7-4AA0-8AB3-62156EB35BF6}" type="slidenum">
              <a:rPr lang="en-IN" altLang="en-US"/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75E418-9EB5-4616-97DD-EF7A83A7625F}" type="slidenum">
              <a:rPr lang="en-IN" altLang="en-US"/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A49EBA-6C7D-463C-94FA-5059F568BA14}" type="slidenum">
              <a:rPr lang="en-IN" altLang="en-US"/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8C7E6D-1E6A-4283-B4A2-5E2B88364351}" type="slidenum">
              <a:rPr lang="en-IN" altLang="en-US"/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481717-68F4-4212-B289-ECE212B17DB8}" type="slidenum">
              <a:rPr lang="en-IN" altLang="en-US"/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C8FA4F-A4D6-4400-A1E9-FFD8B3FE0B24}" type="slidenum">
              <a:rPr lang="en-IN" altLang="en-US"/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IN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9371B2-03D5-444D-BEEB-3700527AA08B}" type="slidenum">
              <a:rPr lang="en-IN" altLang="en-US"/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6E33E1-EB6F-48D7-93ED-E47C25347265}" type="slidenum">
              <a:rPr lang="en-IN" altLang="en-US"/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E998FF-26E4-4D46-9B62-10DEF2DD737B}" type="slidenum">
              <a:rPr lang="en-IN" altLang="en-US"/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CA08C-0939-4EF2-8A0B-C356E0C05F87}" type="slidenum">
              <a:rPr lang="en-IN" altLang="en-US"/>
              <a:t>‹#›</a:t>
            </a:fld>
            <a:endParaRPr lang="en-I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IN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I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58FCA08C-0939-4EF2-8A0B-C356E0C05F87}" type="slidenum">
              <a:rPr lang="en-IN" altLang="en-US"/>
              <a:t>‹#›</a:t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2438400" y="0"/>
            <a:ext cx="7315200" cy="609600"/>
          </a:xfrm>
          <a:prstGeom prst="rect">
            <a:avLst/>
          </a:prstGeom>
        </p:spPr>
        <p:txBody>
          <a:bodyPr lIns="91440" tIns="45720" rIns="91440" bIns="45720" anchor="ctr"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IN" sz="3600" b="1" dirty="0">
                <a:solidFill>
                  <a:schemeClr val="bg1"/>
                </a:solidFill>
                <a:latin typeface="Times New Roman" panose="02020603050405020304"/>
                <a:ea typeface="+mj-ea"/>
                <a:cs typeface="Times New Roman" panose="02020603050405020304"/>
              </a:rPr>
              <a:t>20IT603L – Mini Project-II</a:t>
            </a:r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4953000" y="6477000"/>
            <a:ext cx="1524000" cy="381000"/>
          </a:xfrm>
          <a:prstGeom prst="rect">
            <a:avLst/>
          </a:prstGeom>
        </p:spPr>
        <p:txBody>
          <a:bodyPr anchor="ctr">
            <a:normAutofit fontScale="52500" lnSpcReduction="20000"/>
          </a:bodyPr>
          <a:lstStyle/>
          <a:p>
            <a:pPr algn="ctr" fontAlgn="auto">
              <a:spcAft>
                <a:spcPts val="0"/>
              </a:spcAft>
              <a:defRPr/>
            </a:pPr>
            <a:endParaRPr lang="en-IN" sz="4400" b="1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076" name="Title 1"/>
          <p:cNvSpPr>
            <a:spLocks noGrp="1"/>
          </p:cNvSpPr>
          <p:nvPr>
            <p:ph type="ctrTitle"/>
          </p:nvPr>
        </p:nvSpPr>
        <p:spPr>
          <a:xfrm>
            <a:off x="228600" y="990600"/>
            <a:ext cx="11857038" cy="1281113"/>
          </a:xfrm>
        </p:spPr>
        <p:txBody>
          <a:bodyPr/>
          <a:lstStyle/>
          <a:p>
            <a:pPr eaLnBrk="1" hangingPunct="1"/>
            <a:r>
              <a:rPr lang="en-IN" altLang="en-US" sz="3600" b="1" dirty="0">
                <a:latin typeface="Times New Roman" panose="02020603050405020304"/>
                <a:cs typeface="Times New Roman" panose="02020603050405020304"/>
              </a:rPr>
              <a:t>Detecting </a:t>
            </a:r>
            <a:r>
              <a:rPr lang="en-IN" altLang="en-US" sz="3600" b="1" err="1">
                <a:latin typeface="Times New Roman" panose="02020603050405020304"/>
                <a:cs typeface="Times New Roman" panose="02020603050405020304"/>
              </a:rPr>
              <a:t>Deauthentication</a:t>
            </a:r>
            <a:r>
              <a:rPr lang="en-IN" altLang="en-US" sz="3600" b="1" dirty="0">
                <a:latin typeface="Times New Roman" panose="02020603050405020304"/>
                <a:cs typeface="Times New Roman" panose="02020603050405020304"/>
              </a:rPr>
              <a:t> in Open Network :</a:t>
            </a:r>
            <a:br>
              <a:rPr lang="en-IN" altLang="en-US" sz="3600" b="1" dirty="0">
                <a:latin typeface="Times New Roman" panose="02020603050405020304"/>
                <a:cs typeface="Times New Roman" panose="02020603050405020304"/>
              </a:rPr>
            </a:br>
            <a:r>
              <a:rPr lang="en-IN" altLang="en-US" sz="3600" b="1" dirty="0">
                <a:latin typeface="Times New Roman" panose="02020603050405020304"/>
                <a:cs typeface="Times New Roman" panose="02020603050405020304"/>
              </a:rPr>
              <a:t>A Security Enhanced Approach</a:t>
            </a:r>
            <a:endParaRPr lang="en-US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7" name="Subtitle 2"/>
          <p:cNvSpPr>
            <a:spLocks noGrp="1"/>
          </p:cNvSpPr>
          <p:nvPr>
            <p:ph type="subTitle" idx="1"/>
          </p:nvPr>
        </p:nvSpPr>
        <p:spPr>
          <a:xfrm>
            <a:off x="240408" y="2598918"/>
            <a:ext cx="11755120" cy="3590925"/>
          </a:xfrm>
        </p:spPr>
        <p:txBody>
          <a:bodyPr/>
          <a:lstStyle/>
          <a:p>
            <a:pPr algn="l" eaLnBrk="1" hangingPunct="1">
              <a:lnSpc>
                <a:spcPct val="150000"/>
              </a:lnSpc>
            </a:pPr>
            <a:r>
              <a:rPr lang="en-US" altLang="en-US" sz="2400" b="1" dirty="0">
                <a:solidFill>
                  <a:srgbClr val="0070C0"/>
                </a:solidFill>
                <a:latin typeface="Times New Roman" panose="02020603050405020304"/>
                <a:cs typeface="Times New Roman" panose="02020603050405020304"/>
              </a:rPr>
              <a:t>TEAM MEMBERS:                                                GUIDE:</a:t>
            </a:r>
          </a:p>
          <a:p>
            <a:pPr algn="l" eaLnBrk="1" hangingPunct="1">
              <a:lnSpc>
                <a:spcPct val="150000"/>
              </a:lnSpc>
            </a:pPr>
            <a:r>
              <a:rPr lang="en-US" altLang="en-US" sz="2400" b="1" dirty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MOHAMED FAIZE A(621323205028)                  </a:t>
            </a:r>
            <a:r>
              <a:rPr lang="en-US" altLang="en-US" sz="2400" b="1" dirty="0" err="1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Dr.K.MUTHUMANICKAM</a:t>
            </a:r>
            <a:r>
              <a:rPr lang="en-US" altLang="en-US" sz="2400" b="1" dirty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, ME, </a:t>
            </a:r>
            <a:r>
              <a:rPr lang="en-US" altLang="en-US" sz="2400" b="1" dirty="0" err="1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Phd</a:t>
            </a:r>
            <a:r>
              <a:rPr lang="en-US" altLang="en-US" sz="2400" b="1" dirty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.,</a:t>
            </a:r>
            <a:endParaRPr lang="en-US" altLang="en-US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hangingPunct="1">
              <a:lnSpc>
                <a:spcPct val="150000"/>
              </a:lnSpc>
            </a:pPr>
            <a:r>
              <a:rPr lang="en-US" altLang="en-US" sz="2400" b="1" dirty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THIRUVIKRAM  S (621323205059)                      Professor / IT</a:t>
            </a:r>
          </a:p>
          <a:p>
            <a:pPr algn="l" eaLnBrk="1" hangingPunct="1">
              <a:lnSpc>
                <a:spcPct val="150000"/>
              </a:lnSpc>
            </a:pPr>
            <a:r>
              <a:rPr lang="en-US" altLang="en-US" sz="2400" b="1" dirty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KABILAN M (621323205303) 				</a:t>
            </a:r>
          </a:p>
          <a:p>
            <a:pPr algn="l" eaLnBrk="1" hangingPunct="1">
              <a:lnSpc>
                <a:spcPct val="150000"/>
              </a:lnSpc>
            </a:pPr>
            <a:endParaRPr lang="en-US" altLang="en-US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hangingPunct="1">
              <a:lnSpc>
                <a:spcPct val="150000"/>
              </a:lnSpc>
            </a:pPr>
            <a:endParaRPr lang="en-IN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hangingPunct="1">
              <a:lnSpc>
                <a:spcPct val="150000"/>
              </a:lnSpc>
            </a:pPr>
            <a:endParaRPr lang="en-US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8" name="Slide Number Placeholder 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-2209800" y="6394450"/>
            <a:ext cx="2844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38BFC24-87F0-4EE8-A709-3C2D3CDDCA76}" type="slidenum">
              <a:rPr lang="en-I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IN" alt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2438400" y="0"/>
            <a:ext cx="8229600" cy="6096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  <a:endParaRPr lang="en-IN" altLang="en-US" sz="36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8610600" y="6477000"/>
            <a:ext cx="1524000" cy="381000"/>
          </a:xfrm>
          <a:prstGeom prst="rect">
            <a:avLst/>
          </a:prstGeom>
        </p:spPr>
        <p:txBody>
          <a:bodyPr anchor="ctr">
            <a:normAutofit fontScale="52500" lnSpcReduction="20000"/>
          </a:bodyPr>
          <a:lstStyle/>
          <a:p>
            <a:pPr algn="ctr" fontAlgn="auto">
              <a:spcAft>
                <a:spcPts val="0"/>
              </a:spcAft>
              <a:defRPr/>
            </a:pPr>
            <a:endParaRPr lang="en-IN" sz="4400" b="1" dirty="0">
              <a:solidFill>
                <a:schemeClr val="bg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7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4419278"/>
              </p:ext>
            </p:extLst>
          </p:nvPr>
        </p:nvGraphicFramePr>
        <p:xfrm>
          <a:off x="152400" y="736445"/>
          <a:ext cx="11811001" cy="54864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1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29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87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187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S.NO</a:t>
                      </a:r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TOPIC</a:t>
                      </a:r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</a:t>
                      </a:r>
                      <a:r>
                        <a:rPr lang="en-US" sz="2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Page.No</a:t>
                      </a:r>
                    </a:p>
                  </a:txBody>
                  <a:tcPr marT="45722" marB="4572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647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Confirmation</a:t>
                      </a:r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22" marB="4572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647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Introduction</a:t>
                      </a:r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22" marB="4572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647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 of the Project</a:t>
                      </a:r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22" marB="4572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647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</a:t>
                      </a:r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Literature Review</a:t>
                      </a:r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22" marB="4572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647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</a:t>
                      </a:r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Summary of Literature Review</a:t>
                      </a:r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22" marB="45722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647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</a:t>
                      </a:r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</a:t>
                      </a:r>
                      <a:r>
                        <a:rPr lang="en-US" sz="24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System</a:t>
                      </a:r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22" marB="45722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6647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</a:t>
                      </a:r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Disadvantages</a:t>
                      </a:r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22" marB="45722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6647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</a:t>
                      </a:r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</a:t>
                      </a:r>
                      <a:r>
                        <a:rPr lang="en-US" sz="24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System with Architecture</a:t>
                      </a:r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22" marB="45722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6647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</a:t>
                      </a:r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22" marB="45722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6647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</a:t>
                      </a:r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Architecture Diagram</a:t>
                      </a:r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22" marB="45722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66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</a:t>
                      </a:r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 sz="2400" b="1" i="0" u="none" strike="noStrike" noProof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 Modules – Working</a:t>
                      </a:r>
                      <a:r>
                        <a:rPr lang="en-US" sz="2400" b="1" i="0" u="none" strike="noStrike" baseline="0" noProof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Principle of each module</a:t>
                      </a:r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22" marB="45722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150" name="Slide Number Placeholder 1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B2D3C3D-DDC9-4728-8048-B368EB2D4894}" type="slidenum">
              <a:rPr lang="en-I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I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7FD1EA-0614-8BB1-A793-A92BA7347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81717-68F4-4212-B289-ECE212B17DB8}" type="slidenum">
              <a:rPr lang="en-IN" altLang="en-US" smtClean="0"/>
              <a:t>3</a:t>
            </a:fld>
            <a:endParaRPr lang="en-IN" alt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BE6BAB1-3F63-95F6-A907-33271A410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5544856"/>
              </p:ext>
            </p:extLst>
          </p:nvPr>
        </p:nvGraphicFramePr>
        <p:xfrm>
          <a:off x="190499" y="914400"/>
          <a:ext cx="11811001" cy="26517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19288">
                  <a:extLst>
                    <a:ext uri="{9D8B030D-6E8A-4147-A177-3AD203B41FA5}">
                      <a16:colId xmlns:a16="http://schemas.microsoft.com/office/drawing/2014/main" val="365696573"/>
                    </a:ext>
                  </a:extLst>
                </a:gridCol>
                <a:gridCol w="7282917">
                  <a:extLst>
                    <a:ext uri="{9D8B030D-6E8A-4147-A177-3AD203B41FA5}">
                      <a16:colId xmlns:a16="http://schemas.microsoft.com/office/drawing/2014/main" val="3069245597"/>
                    </a:ext>
                  </a:extLst>
                </a:gridCol>
                <a:gridCol w="2608796">
                  <a:extLst>
                    <a:ext uri="{9D8B030D-6E8A-4147-A177-3AD203B41FA5}">
                      <a16:colId xmlns:a16="http://schemas.microsoft.com/office/drawing/2014/main" val="3382725317"/>
                    </a:ext>
                  </a:extLst>
                </a:gridCol>
              </a:tblGrid>
              <a:tr h="2966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</a:t>
                      </a:r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Implementation of each module</a:t>
                      </a:r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22" marB="45722"/>
                </a:tc>
                <a:extLst>
                  <a:ext uri="{0D108BD9-81ED-4DB2-BD59-A6C34878D82A}">
                    <a16:rowId xmlns:a16="http://schemas.microsoft.com/office/drawing/2014/main" val="2882214524"/>
                  </a:ext>
                </a:extLst>
              </a:tr>
              <a:tr h="2966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</a:t>
                      </a:r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 sz="2400" b="1" i="0" u="none" strike="noStrike" noProof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Software and Hardware Requirement Specification</a:t>
                      </a:r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22" marB="45722" anchor="ctr"/>
                </a:tc>
                <a:extLst>
                  <a:ext uri="{0D108BD9-81ED-4DB2-BD59-A6C34878D82A}">
                    <a16:rowId xmlns:a16="http://schemas.microsoft.com/office/drawing/2014/main" val="2328019862"/>
                  </a:ext>
                </a:extLst>
              </a:tr>
              <a:tr h="2966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</a:t>
                      </a:r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Results and Discussion with Graphs/screenshots</a:t>
                      </a:r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22" marB="45722" anchor="ctr"/>
                </a:tc>
                <a:extLst>
                  <a:ext uri="{0D108BD9-81ED-4DB2-BD59-A6C34878D82A}">
                    <a16:rowId xmlns:a16="http://schemas.microsoft.com/office/drawing/2014/main" val="2883001437"/>
                  </a:ext>
                </a:extLst>
              </a:tr>
              <a:tr h="2966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15.</a:t>
                      </a:r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 sz="2400" b="1" i="0" u="none" strike="noStrike" noProof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Conclusion</a:t>
                      </a:r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22" marB="45722"/>
                </a:tc>
                <a:extLst>
                  <a:ext uri="{0D108BD9-81ED-4DB2-BD59-A6C34878D82A}">
                    <a16:rowId xmlns:a16="http://schemas.microsoft.com/office/drawing/2014/main" val="2863926572"/>
                  </a:ext>
                </a:extLst>
              </a:tr>
              <a:tr h="5339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16.</a:t>
                      </a:r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pPr marL="0" marR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References</a:t>
                      </a:r>
                    </a:p>
                    <a:p>
                      <a:pPr lvl="0" algn="just" defTabSz="914400">
                        <a:buNone/>
                        <a:defRPr/>
                      </a:pPr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22" marB="45722"/>
                </a:tc>
                <a:extLst>
                  <a:ext uri="{0D108BD9-81ED-4DB2-BD59-A6C34878D82A}">
                    <a16:rowId xmlns:a16="http://schemas.microsoft.com/office/drawing/2014/main" val="29638947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4084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1752600" y="0"/>
            <a:ext cx="8229600" cy="609600"/>
          </a:xfrm>
        </p:spPr>
        <p:txBody>
          <a:bodyPr/>
          <a:lstStyle/>
          <a:p>
            <a:pPr eaLnBrk="1" hangingPunct="1"/>
            <a:r>
              <a:rPr lang="en-GB" altLang="en-US" sz="36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Confirmation</a:t>
            </a:r>
            <a:endParaRPr lang="en-IN" altLang="en-US" sz="36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271445" y="863600"/>
            <a:ext cx="11657503" cy="5135563"/>
          </a:xfrm>
        </p:spPr>
        <p:txBody>
          <a:bodyPr/>
          <a:lstStyle/>
          <a:p>
            <a:pPr algn="ctr"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/>
                <a:ea typeface="+mn-lt"/>
                <a:cs typeface="+mn-lt"/>
              </a:rPr>
              <a:t> Detecting </a:t>
            </a:r>
            <a:r>
              <a:rPr lang="en-US" sz="2400" b="1" dirty="0" err="1">
                <a:latin typeface="Times New Roman" panose="02020603050405020304"/>
                <a:ea typeface="+mn-lt"/>
                <a:cs typeface="+mn-lt"/>
              </a:rPr>
              <a:t>Deauthentication</a:t>
            </a:r>
            <a:r>
              <a:rPr lang="en-US" sz="2400" b="1" dirty="0">
                <a:latin typeface="Times New Roman" panose="02020603050405020304"/>
                <a:ea typeface="+mn-lt"/>
                <a:cs typeface="+mn-lt"/>
              </a:rPr>
              <a:t> in Open Networks: A Security-Enhanced Approach</a:t>
            </a:r>
            <a:endParaRPr lang="en-US" sz="2400" dirty="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50000"/>
              </a:lnSpc>
              <a:buNone/>
            </a:pPr>
            <a:endParaRPr lang="en-US" sz="2400" b="1" u="sng" dirty="0">
              <a:latin typeface="Times New Roman" panose="02020603050405020304"/>
              <a:ea typeface="+mn-lt"/>
              <a:cs typeface="+mn-lt"/>
            </a:endParaRPr>
          </a:p>
          <a:p>
            <a:pPr algn="just">
              <a:lnSpc>
                <a:spcPct val="150000"/>
              </a:lnSpc>
              <a:buFont typeface="Wingdings" panose="05000000000000000000" pitchFamily="34" charset="0"/>
              <a:buChar char="Ø"/>
            </a:pPr>
            <a:r>
              <a:rPr lang="en-US" sz="2400" dirty="0">
                <a:latin typeface="Times New Roman" panose="02020603050405020304"/>
                <a:ea typeface="+mn-lt"/>
                <a:cs typeface="+mn-lt"/>
              </a:rPr>
              <a:t>This title is finalized and confirmed as it accurately reflects the objective of the project. The focus is on </a:t>
            </a:r>
            <a:r>
              <a:rPr lang="en-US" sz="2400" b="1" dirty="0">
                <a:latin typeface="Times New Roman" panose="02020603050405020304"/>
                <a:ea typeface="+mn-lt"/>
                <a:cs typeface="+mn-lt"/>
              </a:rPr>
              <a:t>detecting </a:t>
            </a:r>
            <a:r>
              <a:rPr lang="en-US" sz="2400" b="1" dirty="0" err="1">
                <a:latin typeface="Times New Roman" panose="02020603050405020304"/>
                <a:ea typeface="+mn-lt"/>
                <a:cs typeface="+mn-lt"/>
              </a:rPr>
              <a:t>deauthentication</a:t>
            </a:r>
            <a:r>
              <a:rPr lang="en-US" sz="2400" b="1" dirty="0">
                <a:latin typeface="Times New Roman" panose="02020603050405020304"/>
                <a:ea typeface="+mn-lt"/>
                <a:cs typeface="+mn-lt"/>
              </a:rPr>
              <a:t> attacks</a:t>
            </a:r>
            <a:r>
              <a:rPr lang="en-US" sz="2400" dirty="0">
                <a:latin typeface="Times New Roman" panose="02020603050405020304"/>
                <a:ea typeface="+mn-lt"/>
                <a:cs typeface="+mn-lt"/>
              </a:rPr>
              <a:t> in </a:t>
            </a:r>
            <a:r>
              <a:rPr lang="en-US" sz="2400" b="1" dirty="0">
                <a:latin typeface="Times New Roman" panose="02020603050405020304"/>
                <a:ea typeface="+mn-lt"/>
                <a:cs typeface="+mn-lt"/>
              </a:rPr>
              <a:t>open Wi-Fi networks</a:t>
            </a:r>
            <a:r>
              <a:rPr lang="en-US" sz="2400" dirty="0">
                <a:latin typeface="Times New Roman" panose="02020603050405020304"/>
                <a:ea typeface="+mn-lt"/>
                <a:cs typeface="+mn-lt"/>
              </a:rPr>
              <a:t> using a </a:t>
            </a:r>
            <a:r>
              <a:rPr lang="en-US" sz="2400" b="1" dirty="0">
                <a:latin typeface="Times New Roman" panose="02020603050405020304"/>
                <a:ea typeface="+mn-lt"/>
                <a:cs typeface="+mn-lt"/>
              </a:rPr>
              <a:t>security-enhanced and ethical approach</a:t>
            </a:r>
            <a:r>
              <a:rPr lang="en-US" sz="2400" dirty="0">
                <a:latin typeface="Times New Roman" panose="02020603050405020304"/>
                <a:ea typeface="+mn-lt"/>
                <a:cs typeface="+mn-lt"/>
              </a:rPr>
              <a:t>. </a:t>
            </a:r>
          </a:p>
          <a:p>
            <a:pPr algn="just">
              <a:lnSpc>
                <a:spcPct val="150000"/>
              </a:lnSpc>
              <a:buFont typeface="Wingdings" panose="05000000000000000000" pitchFamily="34" charset="0"/>
              <a:buChar char="Ø"/>
            </a:pPr>
            <a:r>
              <a:rPr lang="en-US" sz="2400" dirty="0">
                <a:latin typeface="Times New Roman" panose="02020603050405020304"/>
                <a:ea typeface="+mn-lt"/>
                <a:cs typeface="+mn-lt"/>
              </a:rPr>
              <a:t>The title avoids attack execution and emphasizes intrusion detection, user alerting, and security awareness, making it suitable for academic research, demonstrations, and real-world applications.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algn="just">
              <a:buFont typeface="Arial" panose="020B0604020202020204" pitchFamily="34" charset="0"/>
              <a:buNone/>
            </a:pPr>
            <a:endParaRPr lang="en-US" alt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8305800" y="6400800"/>
            <a:ext cx="1524000" cy="381000"/>
          </a:xfrm>
          <a:prstGeom prst="rect">
            <a:avLst/>
          </a:prstGeom>
        </p:spPr>
        <p:txBody>
          <a:bodyPr anchor="ctr">
            <a:normAutofit fontScale="52500" lnSpcReduction="20000"/>
          </a:bodyPr>
          <a:lstStyle/>
          <a:p>
            <a:pPr algn="ctr" fontAlgn="auto">
              <a:spcAft>
                <a:spcPts val="0"/>
              </a:spcAft>
              <a:defRPr/>
            </a:pPr>
            <a:endParaRPr lang="en-IN" sz="4400" b="1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149" name="Slide Number Placeholder 1"/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330200" y="6408738"/>
            <a:ext cx="2844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94CEDC0-A8CE-4E93-9744-E7B3F3B225A6}" type="slidenum">
              <a:rPr lang="en-I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I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10160" y="-1"/>
            <a:ext cx="12181840" cy="655629"/>
          </a:xfrm>
        </p:spPr>
        <p:txBody>
          <a:bodyPr/>
          <a:lstStyle/>
          <a:p>
            <a:r>
              <a:rPr lang="en-US" altLang="en-IN" sz="3600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7172" name="Slide Number Placeholder 3"/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381000" y="6400800"/>
            <a:ext cx="2844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5FE2298-7BA8-4A6F-8793-89C58545FDF3}" type="slidenum">
              <a:rPr lang="en-I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I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5CF922-25FD-A20D-5366-B827C3C6DE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19200" y="1752433"/>
            <a:ext cx="10668000" cy="3349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 Wi-Fi networks are widely used in colleges and public areas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networks lack strong security protection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One major threat is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deauthentication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attack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Attackers send fake packets to disconnect users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causes network disruption and denial of service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can also lead to phishing and credential theft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6858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600" b="1" dirty="0">
                <a:solidFill>
                  <a:schemeClr val="bg1"/>
                </a:solidFill>
                <a:latin typeface="Times New Roman" panose="02020603050405020304"/>
                <a:ea typeface="+mn-ea"/>
                <a:cs typeface="Times New Roman" panose="02020603050405020304"/>
              </a:rPr>
              <a:t>Objectives of the Project</a:t>
            </a:r>
            <a:endParaRPr lang="en-IN" altLang="en-US" sz="3600" b="1" dirty="0">
              <a:solidFill>
                <a:schemeClr val="bg1"/>
              </a:solidFill>
              <a:latin typeface="Times New Roman" panose="02020603050405020304"/>
              <a:ea typeface="+mn-ea"/>
              <a:cs typeface="Times New Roman" panose="02020603050405020304"/>
            </a:endParaRPr>
          </a:p>
        </p:txBody>
      </p:sp>
      <p:sp>
        <p:nvSpPr>
          <p:cNvPr id="8195" name="Rectangle 4"/>
          <p:cNvSpPr txBox="1">
            <a:spLocks noChangeArrowheads="1"/>
          </p:cNvSpPr>
          <p:nvPr/>
        </p:nvSpPr>
        <p:spPr bwMode="auto">
          <a:xfrm>
            <a:off x="272827" y="828357"/>
            <a:ext cx="11886516" cy="5699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8305800" y="6400800"/>
            <a:ext cx="1524000" cy="381000"/>
          </a:xfrm>
          <a:prstGeom prst="rect">
            <a:avLst/>
          </a:prstGeom>
        </p:spPr>
        <p:txBody>
          <a:bodyPr anchor="ctr">
            <a:normAutofit fontScale="52500" lnSpcReduction="20000"/>
          </a:bodyPr>
          <a:lstStyle/>
          <a:p>
            <a:pPr algn="ctr" fontAlgn="auto">
              <a:spcAft>
                <a:spcPts val="0"/>
              </a:spcAft>
              <a:defRPr/>
            </a:pPr>
            <a:endParaRPr lang="en-IN" sz="4400" b="1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197" name="Slide Number Placeholder 1"/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381000" y="6400800"/>
            <a:ext cx="2844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AFB9422-95CC-42C5-9A76-2639B71A1A47}" type="slidenum">
              <a:rPr lang="en-I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I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3E5DF0-C7C7-DF19-DFC2-82D56583A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7644" y="1447800"/>
            <a:ext cx="9755155" cy="3349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deauthentication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attacks in real-time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Monitor all nearby Wi-Fi networks continuously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 packet patterns using threshold logic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 false alerts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RSSI filtering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spoof attacks using MAC comparison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alerts through OLED, buzzer, and email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chemeClr val="bg1"/>
                </a:solidFill>
                <a:latin typeface="Times New Roman" panose="02020603050405020304"/>
                <a:ea typeface="+mn-ea"/>
                <a:cs typeface="Times New Roman" panose="02020603050405020304"/>
              </a:rPr>
              <a:t>Literature Review </a:t>
            </a:r>
          </a:p>
        </p:txBody>
      </p:sp>
      <p:sp>
        <p:nvSpPr>
          <p:cNvPr id="9219" name="Slide Number Placeholder 2"/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388938" y="6400800"/>
            <a:ext cx="2844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8B07567-749A-4EAA-8723-4697676F8014}" type="slidenum">
              <a:rPr lang="en-I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I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907346"/>
              </p:ext>
            </p:extLst>
          </p:nvPr>
        </p:nvGraphicFramePr>
        <p:xfrm>
          <a:off x="215660" y="690112"/>
          <a:ext cx="11719237" cy="564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2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0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8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8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208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35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8628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S-no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 &amp; Year of Publications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paper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da-DK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Moharam, M. H., Ashraf, K., Alaa, H. et al.</a:t>
                      </a:r>
                      <a:r>
                        <a:rPr lang="en-GB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2025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Scientific  reports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GB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detection of Wi-Fi attacks using hybrid deep learning models on </a:t>
                      </a:r>
                      <a:r>
                        <a:rPr lang="en-GB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NodeMCU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GB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(&gt;96%) accuracy; interpretable hybrid ML + DL; low-cost deployment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GB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Heavy computation for ultra-low-end IoT; sensitive to RSSI/SNR noise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741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da-DK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Btoush, A., Abdallah, A., et al.2024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Springer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GB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Intrusion detection and recovery framework for WPA3-SAE </a:t>
                      </a:r>
                      <a:r>
                        <a:rPr lang="en-GB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deauthentication</a:t>
                      </a:r>
                      <a:r>
                        <a:rPr lang="en-GB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frames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GB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Introduces proactive detection and recovery mechanisms; focuses on modern WPA3 security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GB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experimental evaluation metrics; less focus on lightweight deployment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61375"/>
          </a:xfrm>
        </p:spPr>
        <p:txBody>
          <a:bodyPr/>
          <a:lstStyle/>
          <a:p>
            <a:pPr algn="l"/>
            <a:r>
              <a:rPr lang="en-GB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Contd.</a:t>
            </a:r>
            <a:endParaRPr lang="en-IN" altLang="en-US" sz="3600" dirty="0"/>
          </a:p>
        </p:txBody>
      </p:sp>
      <p:sp>
        <p:nvSpPr>
          <p:cNvPr id="10243" name="Slide Number Placeholder 3"/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381000" y="6400800"/>
            <a:ext cx="2844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F21AE33-CF7D-4320-A4A3-B7EAE88D135E}" type="slidenum">
              <a:rPr lang="en-I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I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30037" y="761999"/>
          <a:ext cx="11741988" cy="55346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1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44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569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569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67313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20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Behiry</a:t>
                      </a:r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M. H., &amp; Aly, M.2024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Springer – Journal of Big Data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feature selection with ML-based intrusion detection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detection accuracy in wireless networks; efficient feature reduction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exclusively focused on Wi-Fi </a:t>
                      </a:r>
                      <a:r>
                        <a:rPr lang="en-GB" sz="20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deauthentication</a:t>
                      </a:r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attacks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7313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fr-FR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Yu, Y., Fu, Y., Liu, T., et al.2025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GB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Scientific Reports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learning-based intrusion detection framework for IoT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GB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detection accuracy for network attacks; scalable deep learning model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GB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General IoT attack detection; not specific to Wi-Fi </a:t>
                      </a:r>
                      <a:r>
                        <a:rPr lang="en-GB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deauthentication</a:t>
                      </a:r>
                      <a:r>
                        <a:rPr lang="en-GB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attacks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1" y="1468"/>
            <a:ext cx="12180498" cy="553529"/>
          </a:xfrm>
        </p:spPr>
        <p:txBody>
          <a:bodyPr/>
          <a:lstStyle/>
          <a:p>
            <a:pPr algn="l"/>
            <a:r>
              <a:rPr lang="en-US" sz="3600" b="1" dirty="0">
                <a:solidFill>
                  <a:schemeClr val="bg1"/>
                </a:solidFill>
                <a:latin typeface="Times New Roman" panose="02020603050405020304"/>
                <a:ea typeface="Calibri" panose="020F0502020204030204"/>
                <a:cs typeface="Calibri" panose="020F0502020204030204"/>
              </a:rPr>
              <a:t>	Contd.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BF5F69-9018-4A93-A7C6-C324F63CCB45}" type="slidenum">
              <a:rPr lang="en-IN" altLang="en-US"/>
              <a:t>9</a:t>
            </a:fld>
            <a:endParaRPr lang="en-IN" alt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04800" y="838200"/>
          <a:ext cx="11531675" cy="53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1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91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3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19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9691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20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Liu X., Meng X., Duan H., Hu Z., Wang M.2025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Sensors (MDPI)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Survey on Secure Wi-Fi Sensing Technology: Attacks &amp; </a:t>
                      </a:r>
                      <a:r>
                        <a:rPr lang="en-GB" sz="20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Defenses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Comprehensive background survey; covers multiple Wi-Fi attacks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Broad scope; not focused solely on </a:t>
                      </a:r>
                      <a:r>
                        <a:rPr lang="en-GB" sz="20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deauthentication</a:t>
                      </a:r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detection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708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GB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Yogi </a:t>
                      </a:r>
                      <a:r>
                        <a:rPr lang="en-GB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Kristyanto</a:t>
                      </a:r>
                      <a:r>
                        <a:rPr lang="en-GB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GB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Ernastuti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CommIT</a:t>
                      </a:r>
                      <a:r>
                        <a:rPr lang="en-GB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Journal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Analysis of </a:t>
                      </a:r>
                      <a:r>
                        <a:rPr lang="en-GB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Deauthentication</a:t>
                      </a:r>
                      <a:r>
                        <a:rPr lang="en-GB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Attack on IEEE 802.11 Connectivity (IoT)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GB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 attack </a:t>
                      </a:r>
                      <a:r>
                        <a:rPr lang="en-GB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behavior</a:t>
                      </a:r>
                      <a:r>
                        <a:rPr lang="en-GB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analysis; IoT-oriented study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GB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advanced detection model; mainly penetration analysis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35560"/>
            <a:ext cx="12192000" cy="645160"/>
          </a:xfrm>
        </p:spPr>
        <p:txBody>
          <a:bodyPr/>
          <a:lstStyle/>
          <a:p>
            <a:pPr algn="l"/>
            <a:r>
              <a:rPr lang="en-GB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Contd.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381000" y="914400"/>
          <a:ext cx="11506200" cy="51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86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77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75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73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72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17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6745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it-IT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L. R. &amp; R. M. Bommi </a:t>
                      </a:r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ICSTCEE 2022 Conference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GB" sz="20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Deauthentication</a:t>
                      </a:r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Attack Detection using ML Techniques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Early ML-based approach; baseline classification results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Conference paper; limited dataset and real-world validation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414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Alaa </a:t>
                      </a:r>
                      <a:r>
                        <a:rPr lang="en-GB" sz="20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Btoush</a:t>
                      </a:r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Abdallah et al. 2024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Springer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Intrusion Detection &amp; Recovery of </a:t>
                      </a:r>
                      <a:r>
                        <a:rPr lang="en-GB" sz="20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Deauthentication</a:t>
                      </a:r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Frame in WPA3-SAE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detection and recovery; WPA3-focused security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Less emphasis on performance metrics; partial indexing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BF5F69-9018-4A93-A7C6-C324F63CCB45}" type="slidenum">
              <a:rPr lang="en-IN" altLang="en-US" smtClean="0"/>
              <a:t>10</a:t>
            </a:fld>
            <a:endParaRPr lang="en-I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" y="-15240"/>
            <a:ext cx="12181840" cy="624840"/>
          </a:xfrm>
        </p:spPr>
        <p:txBody>
          <a:bodyPr/>
          <a:lstStyle/>
          <a:p>
            <a:pPr algn="l"/>
            <a:r>
              <a:rPr lang="en-GB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Contd.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304800" y="914400"/>
          <a:ext cx="11582400" cy="53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60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2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9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3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96913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da-DK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Alkasasbeh, Btoush, Anas A. et al.</a:t>
                      </a:r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2024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20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RSCom</a:t>
                      </a:r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/ Preprint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Intrusion Detection &amp; Recovery for WPA3 </a:t>
                      </a:r>
                      <a:r>
                        <a:rPr lang="en-GB" sz="20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Deauthentication</a:t>
                      </a:r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Frames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Integrated detection + recovery approach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Preprint; broader than pure detection analysis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7087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da-DK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Md Minhajul Islam Munna et al.2025</a:t>
                      </a:r>
                      <a:endParaRPr lang="en-GB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arXiv</a:t>
                      </a:r>
                      <a:r>
                        <a:rPr lang="en-GB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(preprint)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Intrusion Detection with Advanced ML in Wi-Fi Networks</a:t>
                      </a:r>
                      <a:endParaRPr lang="en-GB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high accuracy (&gt;98%); ensemble ML models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Preprint only; not peer-reviewed; broad intrusion scope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BF5F69-9018-4A93-A7C6-C324F63CCB45}" type="slidenum">
              <a:rPr lang="en-IN" altLang="en-US" smtClean="0"/>
              <a:t>11</a:t>
            </a:fld>
            <a:endParaRPr lang="en-I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4CBF7-B420-2B11-4EE5-DA21CE345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665"/>
            <a:ext cx="12192000" cy="604935"/>
          </a:xfrm>
        </p:spPr>
        <p:txBody>
          <a:bodyPr/>
          <a:lstStyle/>
          <a:p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Findings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2C6AA2-7F10-3201-A2A3-FDB2020BE5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BF5F69-9018-4A93-A7C6-C324F63CCB45}" type="slidenum">
              <a:rPr lang="en-IN" altLang="en-US" smtClean="0"/>
              <a:t>12</a:t>
            </a:fld>
            <a:endParaRPr lang="en-IN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53A98BE-B0DD-AE1C-DC3E-29E6AEF4B9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609600"/>
            <a:ext cx="11353800" cy="55659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 improve attack detection accuracy significantly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techniques are used for complex network behavior analysis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Centralized Wireless Intrusion Detection Systems (WIDS) are widely deployed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Software tools like Wireshark and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Aircrack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-ng are effective for packet analysis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Deauthentication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attacks are easy to execute due to protocol weakness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IoT-based monitoring systems are emerging in recent research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Threshold-based detection methods are simple and fast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Hybrid detection (ML + rule-based) improves reliability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WPA3 improves security but still vulnerable at management frame level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detection is possible but mostly in high-end systems</a:t>
            </a:r>
          </a:p>
        </p:txBody>
      </p:sp>
    </p:spTree>
    <p:extLst>
      <p:ext uri="{BB962C8B-B14F-4D97-AF65-F5344CB8AC3E}">
        <p14:creationId xmlns:p14="http://schemas.microsoft.com/office/powerpoint/2010/main" val="14171776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29FE9-7BA6-9EB4-F489-245D548B4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39763"/>
          </a:xfrm>
        </p:spPr>
        <p:txBody>
          <a:bodyPr/>
          <a:lstStyle/>
          <a:p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Gaps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215070-8669-44D4-6F06-AD027A4353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BF5F69-9018-4A93-A7C6-C324F63CCB45}" type="slidenum">
              <a:rPr lang="en-IN" altLang="en-US" smtClean="0"/>
              <a:t>13</a:t>
            </a:fld>
            <a:endParaRPr lang="en-IN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E7893ED-CE81-F6A3-B6A6-0E3640F08A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7700" y="834853"/>
            <a:ext cx="10896600" cy="55659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systems are expensive and require dedicated infrastructure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portable and standalone detection solutions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methods depend on laptops and external adapters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real-time embedded system implementations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Poor detection of spoof (fake MAC) attacks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computational requirement for ML-based systems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 suitable for small-scale environments like colleges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Many systems focus on attack execution rather than detection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user-friendly alert mechanisms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research on low-cost IoT-based intrusion detection</a:t>
            </a:r>
          </a:p>
        </p:txBody>
      </p:sp>
    </p:spTree>
    <p:extLst>
      <p:ext uri="{BB962C8B-B14F-4D97-AF65-F5344CB8AC3E}">
        <p14:creationId xmlns:p14="http://schemas.microsoft.com/office/powerpoint/2010/main" val="1978903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6858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Summary of Literature Review</a:t>
            </a:r>
            <a:endParaRPr lang="en-IN" altLang="en-US" sz="3300" b="1" dirty="0">
              <a:solidFill>
                <a:schemeClr val="bg1"/>
              </a:solidFill>
              <a:ea typeface="+mn-ea"/>
              <a:cs typeface="+mn-cs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8305800" y="6400800"/>
            <a:ext cx="1524000" cy="381000"/>
          </a:xfrm>
          <a:prstGeom prst="rect">
            <a:avLst/>
          </a:prstGeom>
        </p:spPr>
        <p:txBody>
          <a:bodyPr anchor="ctr">
            <a:normAutofit fontScale="52500" lnSpcReduction="20000"/>
          </a:bodyPr>
          <a:lstStyle/>
          <a:p>
            <a:pPr algn="ctr" fontAlgn="auto">
              <a:spcAft>
                <a:spcPts val="0"/>
              </a:spcAft>
              <a:defRPr/>
            </a:pPr>
            <a:endParaRPr lang="en-IN" sz="4400" b="1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269" name="Slide Number Placeholder 1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F04C9D7-D549-4AB0-8FA1-41270EDC8DFB}" type="slidenum">
              <a:rPr lang="en-I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en-I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FBD2BD-BCF5-584D-796A-D0184D1A6EDD}"/>
              </a:ext>
            </a:extLst>
          </p:cNvPr>
          <p:cNvSpPr txBox="1"/>
          <p:nvPr/>
        </p:nvSpPr>
        <p:spPr>
          <a:xfrm>
            <a:off x="1447800" y="1752600"/>
            <a:ext cx="8382000" cy="279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systems are powerful but expensive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are powerful but expensive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solutions require laptops or servers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Embedded real-time detection is limited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Need for low-cost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609600" y="115888"/>
            <a:ext cx="10972800" cy="419100"/>
          </a:xfrm>
        </p:spPr>
        <p:txBody>
          <a:bodyPr/>
          <a:lstStyle/>
          <a:p>
            <a:pPr eaLnBrk="1" hangingPunct="1"/>
            <a:r>
              <a:rPr lang="en-GB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lang="en-IN" altLang="en-US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92" name="Slide Number Placeholder 4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2F1D2C2-E354-414C-8A8D-DAC45A8844D6}" type="slidenum">
              <a:rPr lang="en-I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lang="en-I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D4233D0-FD29-DEA2-84B8-1384F9ADA6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24000" y="1524000"/>
            <a:ext cx="8762999" cy="2241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tools like Wireshark, Kali Linux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Requires monitor mode adapters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Performs packet capture and analysis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mainly by cybersecurity professionals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-283945"/>
            <a:ext cx="10972800" cy="1143000"/>
          </a:xfrm>
        </p:spPr>
        <p:txBody>
          <a:bodyPr/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BF5F69-9018-4A93-A7C6-C324F63CCB45}" type="slidenum">
              <a:rPr lang="en-IN" altLang="en-US" smtClean="0"/>
              <a:t>16</a:t>
            </a:fld>
            <a:endParaRPr lang="en-IN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CA6638E-FC44-33EF-B522-84F7E8C571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1819884"/>
            <a:ext cx="10439400" cy="2795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 portable (requires laptop setup)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cost of equipment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Requires technical expertise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real-time alert system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usability in college environments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642938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</a:t>
            </a:r>
          </a:p>
        </p:txBody>
      </p:sp>
      <p:sp>
        <p:nvSpPr>
          <p:cNvPr id="13316" name="Slide Number Placeholder 3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2467EC6-2F5E-41B4-943C-7A13A0BF97B5}" type="slidenum">
              <a:rPr lang="en-I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fld>
            <a:endParaRPr lang="en-I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0FDAF34-97E0-1370-8117-5382C1054B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90600" y="2031021"/>
            <a:ext cx="10058400" cy="2795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ESP32-based embedded detection system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Works in promiscuous mode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Captures all nearby Wi-Fi packets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hybrid detection (count + rate + spoof)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Generates real-time alerts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305117"/>
            <a:ext cx="12192000" cy="1143000"/>
          </a:xfrm>
        </p:spPr>
        <p:txBody>
          <a:bodyPr/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IN"/>
              <a:t>17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1AAD1BE-C8CA-A62A-FFD4-8BDD1DF143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47800" y="1524000"/>
            <a:ext cx="8763000" cy="3349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Low-cost (~₹1000)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Portable and standalone system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Easy to use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Detects multiple attackers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Works without external system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2"/>
          <p:cNvSpPr>
            <a:spLocks noGrp="1"/>
          </p:cNvSpPr>
          <p:nvPr>
            <p:ph type="title"/>
          </p:nvPr>
        </p:nvSpPr>
        <p:spPr>
          <a:xfrm>
            <a:off x="0" y="-1588"/>
            <a:ext cx="10958513" cy="609601"/>
          </a:xfrm>
        </p:spPr>
        <p:txBody>
          <a:bodyPr/>
          <a:lstStyle/>
          <a:p>
            <a:pPr algn="l"/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Architecture Diagram</a:t>
            </a:r>
          </a:p>
        </p:txBody>
      </p:sp>
      <p:sp>
        <p:nvSpPr>
          <p:cNvPr id="14339" name="Slide Number Placeholder 1"/>
          <p:cNvSpPr>
            <a:spLocks noGrp="1"/>
          </p:cNvSpPr>
          <p:nvPr>
            <p:ph type="sldNum" sz="quarter" idx="12"/>
          </p:nvPr>
        </p:nvSpPr>
        <p:spPr bwMode="auto">
          <a:xfrm>
            <a:off x="304800" y="6396038"/>
            <a:ext cx="2844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/>
            <a:fld id="{23BD7A10-214D-4F3A-8DFE-B73758C3C994}" type="slidenum">
              <a:rPr lang="en-I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fld>
            <a:endParaRPr lang="en-IN" alt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43502" y="929958"/>
            <a:ext cx="5850378" cy="473392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1"/>
          <p:cNvSpPr>
            <a:spLocks noGrp="1"/>
          </p:cNvSpPr>
          <p:nvPr>
            <p:ph type="sldNum" sz="quarter" idx="12"/>
          </p:nvPr>
        </p:nvSpPr>
        <p:spPr bwMode="auto">
          <a:xfrm>
            <a:off x="304800" y="6400800"/>
            <a:ext cx="2844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/>
            <a:fld id="{5C389AD4-53A0-4E25-B2CA-34190DB65DFA}" type="slidenum">
              <a:rPr lang="en-I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fld>
            <a:endParaRPr lang="en-IN" alt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63" name="Rectangle 2"/>
          <p:cNvSpPr>
            <a:spLocks noChangeArrowheads="1"/>
          </p:cNvSpPr>
          <p:nvPr/>
        </p:nvSpPr>
        <p:spPr bwMode="auto">
          <a:xfrm>
            <a:off x="381000" y="914400"/>
            <a:ext cx="11506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/>
            <a:endParaRPr lang="en-US" b="1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364" name="Rectangle 1"/>
          <p:cNvSpPr>
            <a:spLocks noChangeArrowheads="1"/>
          </p:cNvSpPr>
          <p:nvPr/>
        </p:nvSpPr>
        <p:spPr bwMode="auto">
          <a:xfrm>
            <a:off x="0" y="0"/>
            <a:ext cx="12192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Contd.</a:t>
            </a:r>
            <a:endParaRPr lang="en-US" altLang="en-US" sz="36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CD1D20E-4183-1FD7-EBC7-0DAC1D994E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07F68B-FF40-C124-42CD-C0359684F23C}"/>
              </a:ext>
            </a:extLst>
          </p:cNvPr>
          <p:cNvSpPr txBox="1"/>
          <p:nvPr/>
        </p:nvSpPr>
        <p:spPr>
          <a:xfrm>
            <a:off x="1219200" y="1676400"/>
            <a:ext cx="9372600" cy="279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ESP32 captures Wi-Fi packets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Detection engine processes packets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Filters unwanted signals (RSSI filtering)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Applies detection logic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Alerts user via OLED, buzzer, email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620713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 – working principle of the each Modules</a:t>
            </a:r>
            <a:endParaRPr lang="en-IN" altLang="en-US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59" name="Content Placeholder 3"/>
          <p:cNvSpPr>
            <a:spLocks noGrp="1"/>
          </p:cNvSpPr>
          <p:nvPr>
            <p:ph idx="1"/>
          </p:nvPr>
        </p:nvSpPr>
        <p:spPr>
          <a:xfrm>
            <a:off x="302941" y="840059"/>
            <a:ext cx="11734800" cy="5484541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Sniffing Module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Wi-Fi packets using ESP32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in promiscuous mode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Filtering Module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Filters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deauthentication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Removes weak signals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Module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Counts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deauth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packets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rate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60" name="Slide Number Placeholder 5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447C0425-5404-42C7-AFF9-FEC5ED56A0FF}" type="slidenum">
              <a:rPr lang="en-I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fld>
            <a:endParaRPr lang="en-I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09599"/>
          </a:xfrm>
        </p:spPr>
        <p:txBody>
          <a:bodyPr/>
          <a:lstStyle/>
          <a:p>
            <a:pPr algn="l"/>
            <a:r>
              <a:rPr lang="en-GB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Contd.</a:t>
            </a:r>
            <a:endParaRPr lang="en-IN" altLang="en-US" sz="3600" dirty="0"/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11734800" cy="56666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Spoof Detection Module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MAC with router database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fake routers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Module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OLED → display alert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Buzzer → sound alert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→ remote alert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84" name="Slide Number Placeholder 3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E60DBCF-F6C2-4153-BF3D-5736F672829D}" type="slidenum">
              <a:rPr lang="en-I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fld>
            <a:endParaRPr lang="en-I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9582" y="-226218"/>
            <a:ext cx="10972800" cy="1143000"/>
          </a:xfrm>
        </p:spPr>
        <p:txBody>
          <a:bodyPr/>
          <a:lstStyle/>
          <a:p>
            <a:r>
              <a:rPr lang="en-I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Each Module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BF5F69-9018-4A93-A7C6-C324F63CCB45}" type="slidenum">
              <a:rPr lang="en-IN" altLang="en-US" smtClean="0"/>
              <a:t>23</a:t>
            </a:fld>
            <a:endParaRPr lang="en-IN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1565674-51B1-B2D7-59BC-D594DCBBAB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90600" y="1211117"/>
            <a:ext cx="10561782" cy="390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ESP32 configured in promiscuous mode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Packet capture using Wi-Fi API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Deauth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frames identified (subtype = 12)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Sliding window (5 sec) used for rate calculation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Threshold set: 30 packets / 20 packets/sec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Spoof detection using router MAC comparison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Email sent using SMTP protocol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620713"/>
          </a:xfrm>
        </p:spPr>
        <p:txBody>
          <a:bodyPr/>
          <a:lstStyle/>
          <a:p>
            <a:pPr eaLnBrk="1" hangingPunct="1"/>
            <a:r>
              <a:rPr lang="en-GB" altLang="en-US" sz="36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&amp; Hardware Requirement Specification</a:t>
            </a:r>
            <a:endParaRPr lang="en-IN" altLang="en-US" sz="36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1752082" y="1371600"/>
            <a:ext cx="8915918" cy="480060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microcontroller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OLED display (128×64)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Buzzer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supply</a:t>
            </a:r>
          </a:p>
          <a:p>
            <a:pPr marL="0" indent="0">
              <a:lnSpc>
                <a:spcPct val="150000"/>
              </a:lnSpc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 algn="just" eaLnBrk="1" hangingPunct="1">
              <a:lnSpc>
                <a:spcPct val="150000"/>
              </a:lnSpc>
              <a:buNone/>
            </a:pPr>
            <a:endParaRPr lang="en-GB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32" name="Slide Number Placeholder 3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3CCD7D0-A5CC-445D-95A0-8AD33AC1E8EC}" type="slidenum">
              <a:rPr lang="en-I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fld>
            <a:endParaRPr lang="en-I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1"/>
          <p:cNvSpPr>
            <a:spLocks noGrp="1"/>
          </p:cNvSpPr>
          <p:nvPr>
            <p:ph type="sldNum" sz="quarter" idx="12"/>
          </p:nvPr>
        </p:nvSpPr>
        <p:spPr bwMode="auto">
          <a:xfrm>
            <a:off x="304800" y="6400800"/>
            <a:ext cx="2844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/>
            <a:fld id="{4909C16B-FA0C-4E78-AC64-B6CBAF3FD88D}" type="slidenum">
              <a:rPr lang="en-I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fld>
            <a:endParaRPr lang="en-IN" alt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55" name="Rectangle 2"/>
          <p:cNvSpPr>
            <a:spLocks noChangeArrowheads="1"/>
          </p:cNvSpPr>
          <p:nvPr/>
        </p:nvSpPr>
        <p:spPr bwMode="auto">
          <a:xfrm>
            <a:off x="2819400" y="1676400"/>
            <a:ext cx="8839200" cy="3349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IDE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Wi-Fi libraries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 Mail Client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Adafruit OLED library</a:t>
            </a:r>
          </a:p>
          <a:p>
            <a:pPr algn="just">
              <a:lnSpc>
                <a:spcPct val="150000"/>
              </a:lnSpc>
            </a:pPr>
            <a:endParaRPr lang="en-US" altLang="en-US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56" name="Rectangle 1"/>
          <p:cNvSpPr>
            <a:spLocks noChangeArrowheads="1"/>
          </p:cNvSpPr>
          <p:nvPr/>
        </p:nvSpPr>
        <p:spPr bwMode="auto">
          <a:xfrm>
            <a:off x="0" y="0"/>
            <a:ext cx="12192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Contd.</a:t>
            </a:r>
            <a:endParaRPr lang="en-US" altLang="en-US" sz="3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-228917"/>
            <a:ext cx="10972800" cy="1143000"/>
          </a:xfrm>
        </p:spPr>
        <p:txBody>
          <a:bodyPr/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and Discussion with Screenshot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8FCA08C-0939-4EF2-8A0B-C356E0C05F87}" type="slidenum">
              <a:rPr lang="en-IN" altLang="en-US"/>
              <a:t>26</a:t>
            </a:fld>
            <a:endParaRPr lang="en-IN" altLang="en-US"/>
          </a:p>
        </p:txBody>
      </p:sp>
      <p:pic>
        <p:nvPicPr>
          <p:cNvPr id="12" name="Content Placeholder 11" descr="WhatsApp Image 2026-03-17 at 10.32.55 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00" y="762000"/>
            <a:ext cx="4947285" cy="5330190"/>
          </a:xfrm>
          <a:prstGeom prst="rect">
            <a:avLst/>
          </a:prstGeom>
        </p:spPr>
      </p:pic>
      <p:pic>
        <p:nvPicPr>
          <p:cNvPr id="15" name="Picture 14" descr="WhatsApp Image 2026-03-17 at 10.32.56 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838200"/>
            <a:ext cx="5509260" cy="53213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267200" y="-305117"/>
            <a:ext cx="10972800" cy="1143000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Contd.</a:t>
            </a:r>
          </a:p>
        </p:txBody>
      </p:sp>
      <p:pic>
        <p:nvPicPr>
          <p:cNvPr id="5" name="Content Placeholder 4" descr="WhatsApp Image 2026-03-17 at 10.32.56 AM (1)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175" y="762000"/>
            <a:ext cx="11873865" cy="547751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BF5F69-9018-4A93-A7C6-C324F63CCB45}" type="slidenum">
              <a:rPr lang="en-IN" altLang="en-US"/>
              <a:t>27</a:t>
            </a:fld>
            <a:endParaRPr lang="en-I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625475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altLang="en-US" sz="3300" b="1" dirty="0">
              <a:solidFill>
                <a:schemeClr val="bg1"/>
              </a:solidFill>
              <a:ea typeface="+mn-ea"/>
              <a:cs typeface="+mn-cs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8305800" y="6400800"/>
            <a:ext cx="1524000" cy="381000"/>
          </a:xfrm>
          <a:prstGeom prst="rect">
            <a:avLst/>
          </a:prstGeom>
        </p:spPr>
        <p:txBody>
          <a:bodyPr anchor="ctr">
            <a:normAutofit fontScale="52500" lnSpcReduction="20000"/>
          </a:bodyPr>
          <a:lstStyle/>
          <a:p>
            <a:pPr algn="ctr" fontAlgn="auto">
              <a:spcAft>
                <a:spcPts val="0"/>
              </a:spcAft>
              <a:defRPr/>
            </a:pPr>
            <a:endParaRPr lang="en-IN" sz="4400" b="1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6628" name="Slide Number Placeholder 1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7BB6E57-2DCD-4179-9FF8-4E7B41EB9394}" type="slidenum">
              <a:rPr lang="en-I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fld>
            <a:endParaRPr lang="en-I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629" name="Rectangle 6"/>
          <p:cNvSpPr>
            <a:spLocks noChangeArrowheads="1"/>
          </p:cNvSpPr>
          <p:nvPr/>
        </p:nvSpPr>
        <p:spPr bwMode="auto">
          <a:xfrm>
            <a:off x="308517" y="920457"/>
            <a:ext cx="11580996" cy="5565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detects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deauthentication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attacks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in real-time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Low-cost and efficient solution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Work: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integration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Multi-device monitoring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dashboard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attack prevention</a:t>
            </a:r>
          </a:p>
          <a:p>
            <a:pPr algn="just">
              <a:lnSpc>
                <a:spcPct val="150000"/>
              </a:lnSpc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6096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References</a:t>
            </a:r>
            <a:endParaRPr lang="en-IN" altLang="en-US" sz="3600" b="1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9042400" y="6400800"/>
            <a:ext cx="2032000" cy="381000"/>
          </a:xfrm>
          <a:prstGeom prst="rect">
            <a:avLst/>
          </a:prstGeom>
        </p:spPr>
        <p:txBody>
          <a:bodyPr anchor="ctr">
            <a:normAutofit fontScale="50000" lnSpcReduction="20000"/>
          </a:bodyPr>
          <a:lstStyle/>
          <a:p>
            <a:pPr algn="ctr" fontAlgn="auto">
              <a:spcAft>
                <a:spcPts val="0"/>
              </a:spcAft>
              <a:defRPr/>
            </a:pPr>
            <a:endParaRPr lang="en-IN" sz="4400" b="1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7653" name="Rectangle 7"/>
          <p:cNvSpPr>
            <a:spLocks noChangeArrowheads="1"/>
          </p:cNvSpPr>
          <p:nvPr/>
        </p:nvSpPr>
        <p:spPr bwMode="auto">
          <a:xfrm>
            <a:off x="1143000" y="1071563"/>
            <a:ext cx="9906000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/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Calibri" panose="020F0502020204030204" pitchFamily="34" charset="0"/>
              <a:buAutoNum type="arabicPeriod"/>
            </a:pPr>
            <a:endParaRPr lang="en-US" altLang="en-US" sz="2000"/>
          </a:p>
        </p:txBody>
      </p:sp>
      <p:sp>
        <p:nvSpPr>
          <p:cNvPr id="27655" name="Slide Number Placeholder 1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BC24650-312C-41A4-A1F0-4C4B2DAB405A}" type="slidenum">
              <a:rPr lang="en-I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fld>
            <a:endParaRPr lang="en-I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74320" y="923025"/>
            <a:ext cx="11658600" cy="5011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	</a:t>
            </a:r>
            <a:r>
              <a:rPr kumimoji="0" lang="en-US" altLang="en-US" sz="2400" b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Moharam</a:t>
            </a:r>
            <a:r>
              <a:rPr kumimoji="0" lang="en-US" altLang="en-US" sz="2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M. H., Ashraf, K., Alaa, H., et al. (2025)</a:t>
            </a:r>
            <a:br>
              <a:rPr kumimoji="0" lang="en-US" altLang="en-US" sz="2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‘Real-time detection of Wi-Fi attacks using hybrid deep learning models on </a:t>
            </a:r>
            <a:r>
              <a:rPr kumimoji="0" lang="en-US" altLang="en-US" sz="2400" b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NodeMCU</a:t>
            </a:r>
            <a:r>
              <a:rPr kumimoji="0" lang="en-US" altLang="en-US" sz="2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’,</a:t>
            </a:r>
            <a:br>
              <a:rPr kumimoji="0" lang="en-US" altLang="en-US" sz="2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Scientific Reports, Vol. 15, No. 1, pp. 1–15.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	Yu, Y., Fu, Y., Liu, T., et al. (2025)</a:t>
            </a:r>
            <a:br>
              <a:rPr kumimoji="0" lang="en-US" altLang="en-US" sz="2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‘Attack detection based on deep learning for IoT’,</a:t>
            </a:r>
            <a:br>
              <a:rPr kumimoji="0" lang="en-US" altLang="en-US" sz="2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Scientific Reports, Vol. 15, No. 1, pp. 1–18.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	Liu, X., Meng, X., Duan, H., Hu, Z. and Wang, M. (2025)</a:t>
            </a:r>
            <a:br>
              <a:rPr kumimoji="0" lang="en-US" altLang="en-US" sz="2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‘A survey on secure Wi-Fi sensing technology: attacks and defenses’,</a:t>
            </a:r>
            <a:br>
              <a:rPr kumimoji="0" lang="en-US" altLang="en-US" sz="2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Sensors (MDPI), Vol. 25, No. 6, pp. 1913–1935.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09600"/>
          </a:xfrm>
        </p:spPr>
        <p:txBody>
          <a:bodyPr/>
          <a:lstStyle/>
          <a:p>
            <a:pPr algn="l"/>
            <a:r>
              <a:rPr lang="en-GB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Contd.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624840"/>
            <a:ext cx="11658600" cy="6141085"/>
          </a:xfrm>
        </p:spPr>
        <p:txBody>
          <a:bodyPr/>
          <a:lstStyle/>
          <a:p>
            <a:pPr marL="0" lv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	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Btoush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Abdallah, A.,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(2024)</a:t>
            </a:r>
            <a:b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‘Intrusion detection and recovery of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deauthentication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frames in WPA3-SAE’,</a:t>
            </a:r>
            <a:b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Wireless Networks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Springer, Vol. 30, No. 4, pp. 2157–2172.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	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Behiry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H. and Aly, M. (2024)</a:t>
            </a:r>
            <a:b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‘Cyberattack detection in wireless networks using hybrid machine learning techniques’,</a:t>
            </a:r>
            <a:b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Big Data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Springer, Vol. 11, Article No. 16, pp. 1–22.</a:t>
            </a:r>
          </a:p>
          <a:p>
            <a:pPr mar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	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Alkasasbeh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A.,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Btoush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and Al-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Shawabkeh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(2024)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‘Wireless intrusion detection systems for IEEE 802.11 networks: challenges solutions’,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and Communication Networks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Springer, Vol. 2024, Article ID 8893146, pp. 1–14.</a:t>
            </a:r>
          </a:p>
          <a:p>
            <a:pPr marL="457200" lvl="0" indent="-45720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BF5F69-9018-4A93-A7C6-C324F63CCB45}" type="slidenum">
              <a:rPr lang="en-IN" altLang="en-US" smtClean="0"/>
              <a:t>30</a:t>
            </a:fld>
            <a:endParaRPr lang="en-IN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717" y="70199"/>
            <a:ext cx="12199434" cy="557561"/>
          </a:xfrm>
        </p:spPr>
        <p:txBody>
          <a:bodyPr/>
          <a:lstStyle/>
          <a:p>
            <a:pPr algn="l"/>
            <a:r>
              <a:rPr lang="en-US" sz="3600" b="1" dirty="0">
                <a:solidFill>
                  <a:schemeClr val="bg1"/>
                </a:solidFill>
                <a:latin typeface="Times New Roman" panose="02020603050405020304"/>
                <a:ea typeface="Calibri" panose="020F0502020204030204"/>
                <a:cs typeface="Calibri" panose="020F0502020204030204"/>
              </a:rPr>
              <a:t> Contd.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BF5F69-9018-4A93-A7C6-C324F63CCB45}" type="slidenum">
              <a:rPr lang="en-IN" altLang="en-US"/>
              <a:t>31</a:t>
            </a:fld>
            <a:endParaRPr lang="en-I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304800" y="768489"/>
            <a:ext cx="11506200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	Dalal, N., Akhtar, N., Gupta, A., </a:t>
            </a:r>
            <a:r>
              <a:rPr lang="en-GB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(2023)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‘Detection of management frame attacks in IEEE 802.11 wireless networks’,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Wireless Personal Communications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Springer, Vol. 129, No. 2, pp. 835–852.</a:t>
            </a:r>
          </a:p>
          <a:p>
            <a:pPr algn="just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	Kim, J., Park, J., and Lee, H. (2023)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‘Machine learning-based intrusion detection for wireless local area networks’,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 (MDPI)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23, No. 9, pp. 4217–4234.</a:t>
            </a:r>
          </a:p>
          <a:p>
            <a:pPr algn="just"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	Zhang, Y., Wang, S., and Chen, X. (2024)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‘Lightweight intrusion detection framework for IoT-enabled wireless networks’,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Reports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14, No. 1, pp. 1–13.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09600"/>
          </a:xfrm>
        </p:spPr>
        <p:txBody>
          <a:bodyPr/>
          <a:lstStyle/>
          <a:p>
            <a:pPr algn="l"/>
            <a:r>
              <a:rPr lang="en-GB" dirty="0">
                <a:solidFill>
                  <a:schemeClr val="bg1"/>
                </a:solidFill>
              </a:rPr>
              <a:t>	Contd.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040" y="838200"/>
            <a:ext cx="11643360" cy="4525963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	Rahman, M. A., Hossain, M. S., and Hassan, M. M. (2023)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‘Anomaly detection in wireless IoT networks using hybrid deep learning’,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 (MDPI)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23, No. 14, pp. 6421–6439.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BF5F69-9018-4A93-A7C6-C324F63CCB45}" type="slidenum">
              <a:rPr lang="en-IN" altLang="en-US" smtClean="0"/>
              <a:t>32</a:t>
            </a:fld>
            <a:endParaRPr lang="en-IN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905000" y="2514600"/>
            <a:ext cx="8229600" cy="1447800"/>
          </a:xfrm>
        </p:spPr>
        <p:txBody>
          <a:bodyPr rtlCol="0">
            <a:normAutofit fontScale="92500"/>
          </a:bodyPr>
          <a:lstStyle/>
          <a:p>
            <a:pPr algn="ctr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en-US" sz="9600" b="1" dirty="0">
                <a:latin typeface="Bookman Old Style" panose="02050604050505020204" pitchFamily="18" charset="0"/>
              </a:rPr>
              <a:t>Thank You!!!</a:t>
            </a:r>
            <a:endParaRPr lang="en-IN" altLang="en-US" b="1" dirty="0">
              <a:latin typeface="Bookman Old Style" panose="02050604050505020204" pitchFamily="18" charset="0"/>
            </a:endParaRPr>
          </a:p>
        </p:txBody>
      </p:sp>
      <p:sp>
        <p:nvSpPr>
          <p:cNvPr id="29699" name="Slide Number Placeholder 1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9BA07A7-99FC-4C63-B603-D9A7FE2C47BC}" type="slidenum">
              <a:rPr lang="en-I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fld>
            <a:endParaRPr lang="en-I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smart solution new</Template>
  <TotalTime>32</TotalTime>
  <Words>1830</Words>
  <Application>Microsoft Office PowerPoint</Application>
  <PresentationFormat>Widescreen</PresentationFormat>
  <Paragraphs>290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</vt:lpstr>
      <vt:lpstr>Bookman Old Style</vt:lpstr>
      <vt:lpstr>Calibri</vt:lpstr>
      <vt:lpstr>Times New Roman</vt:lpstr>
      <vt:lpstr>Wingdings</vt:lpstr>
      <vt:lpstr>Office Theme</vt:lpstr>
      <vt:lpstr>Detecting Deauthentication in Open Network : A Security Enhanced Approach</vt:lpstr>
      <vt:lpstr>Table of Contents</vt:lpstr>
      <vt:lpstr>PowerPoint Presentation</vt:lpstr>
      <vt:lpstr>Title Confirmation</vt:lpstr>
      <vt:lpstr>Introduction</vt:lpstr>
      <vt:lpstr>Objectives of the Project</vt:lpstr>
      <vt:lpstr>Literature Review </vt:lpstr>
      <vt:lpstr> Contd.</vt:lpstr>
      <vt:lpstr> Contd.</vt:lpstr>
      <vt:lpstr> Contd.</vt:lpstr>
      <vt:lpstr> Contd.</vt:lpstr>
      <vt:lpstr>Findings</vt:lpstr>
      <vt:lpstr>Gaps</vt:lpstr>
      <vt:lpstr>Summary of Literature Review</vt:lpstr>
      <vt:lpstr>Existing System</vt:lpstr>
      <vt:lpstr>Disadvantages</vt:lpstr>
      <vt:lpstr>Proposed System </vt:lpstr>
      <vt:lpstr>Advantages</vt:lpstr>
      <vt:lpstr>                               Architecture Diagram</vt:lpstr>
      <vt:lpstr>PowerPoint Presentation</vt:lpstr>
      <vt:lpstr>Modules – working principle of the each Modules</vt:lpstr>
      <vt:lpstr> Contd.</vt:lpstr>
      <vt:lpstr>Implementation of Each Module</vt:lpstr>
      <vt:lpstr>Software &amp; Hardware Requirement Specification</vt:lpstr>
      <vt:lpstr>PowerPoint Presentation</vt:lpstr>
      <vt:lpstr>Result and Discussion with Screenshot</vt:lpstr>
      <vt:lpstr>Contd.</vt:lpstr>
      <vt:lpstr>Conclusion</vt:lpstr>
      <vt:lpstr>References</vt:lpstr>
      <vt:lpstr> Contd.</vt:lpstr>
      <vt:lpstr> Contd.</vt:lpstr>
      <vt:lpstr> Contd.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Improved Accurate Face Mask Analysis Using Yolov5 And Auto-labeling</dc:title>
  <dc:creator>babu s</dc:creator>
  <cp:lastModifiedBy>Kabilan M</cp:lastModifiedBy>
  <cp:revision>949</cp:revision>
  <dcterms:created xsi:type="dcterms:W3CDTF">2023-01-05T07:55:00Z</dcterms:created>
  <dcterms:modified xsi:type="dcterms:W3CDTF">2026-04-20T06:21:26Z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28F1CACB1A894020A17329C683097EE9_13</vt:lpwstr>
  </property>
  <property fmtid="{D5CDD505-2E9C-101B-9397-08002B2CF9AE}" pid="3" name="KSOProductBuildVer">
    <vt:lpwstr>1033-12.2.0.23196</vt:lpwstr>
  </property>
</Properties>
</file>